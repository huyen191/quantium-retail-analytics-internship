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4"/>
  </p:notesMasterIdLst>
  <p:sldIdLst>
    <p:sldId id="4778" r:id="rId2"/>
    <p:sldId id="1010" r:id="rId3"/>
    <p:sldId id="4780" r:id="rId4"/>
    <p:sldId id="4779" r:id="rId5"/>
    <p:sldId id="4787" r:id="rId6"/>
    <p:sldId id="4781" r:id="rId7"/>
    <p:sldId id="4782" r:id="rId8"/>
    <p:sldId id="4784" r:id="rId9"/>
    <p:sldId id="4785" r:id="rId10"/>
    <p:sldId id="4786" r:id="rId11"/>
    <p:sldId id="4783" r:id="rId12"/>
    <p:sldId id="275" r:id="rId13"/>
  </p:sldIdLst>
  <p:sldSz cx="12192000" cy="6858000"/>
  <p:notesSz cx="6858000" cy="9144000"/>
  <p:embeddedFontLst>
    <p:embeddedFont>
      <p:font typeface="Roboto" panose="02000000000000000000" pitchFamily="2" charset="0"/>
      <p:regular r:id="rId15"/>
      <p:bold r:id="rId16"/>
      <p:italic r:id="rId17"/>
      <p:boldItalic r:id="rId18"/>
    </p:embeddedFont>
    <p:embeddedFont>
      <p:font typeface="Roboto Light" panose="02000000000000000000" pitchFamily="2" charset="0"/>
      <p:regular r:id="rId19"/>
      <p:italic r:id="rId20"/>
    </p:embeddedFont>
    <p:embeddedFont>
      <p:font typeface="Roboto Medium" panose="02000000000000000000" pitchFamily="2" charset="0"/>
      <p:regular r:id="rId21"/>
      <p: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7"/>
            <p14:sldId id="4781"/>
            <p14:sldId id="4782"/>
            <p14:sldId id="4784"/>
            <p14:sldId id="4785"/>
            <p14:sldId id="4786"/>
            <p14:sldId id="4783"/>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94" autoAdjust="0"/>
    <p:restoredTop sz="91283" autoAdjust="0"/>
  </p:normalViewPr>
  <p:slideViewPr>
    <p:cSldViewPr snapToGrid="0" showGuides="1">
      <p:cViewPr>
        <p:scale>
          <a:sx n="100" d="100"/>
          <a:sy n="100" d="100"/>
        </p:scale>
        <p:origin x="1314" y="114"/>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2/12/2025</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Zq1QDAkoRzU"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12</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t>June 2020</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6"/>
            <a:ext cx="1896185" cy="1718741"/>
          </a:xfrm>
          <a:prstGeom prst="rect">
            <a:avLst/>
          </a:prstGeom>
          <a:noFill/>
        </p:spPr>
        <p:txBody>
          <a:bodyPr wrap="square" lIns="0" tIns="0" rIns="0" bIns="0" rtlCol="0" anchor="t">
            <a:noAutofit/>
          </a:bodyPr>
          <a:lstStyle/>
          <a:p>
            <a:pPr algn="l"/>
            <a:r>
              <a:rPr lang="en-AU" dirty="0">
                <a:latin typeface="Roboto" panose="02000000000000000000" pitchFamily="2" charset="0"/>
                <a:ea typeface="Roboto" panose="02000000000000000000" pitchFamily="2" charset="0"/>
                <a:cs typeface="Roboto" panose="02000000000000000000" pitchFamily="2" charset="0"/>
              </a:rPr>
              <a:t>Task 1</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pPr algn="l"/>
            <a:r>
              <a:rPr lang="en-AU" dirty="0">
                <a:latin typeface="Roboto" panose="02000000000000000000" pitchFamily="2" charset="0"/>
                <a:ea typeface="Roboto" panose="02000000000000000000" pitchFamily="2" charset="0"/>
                <a:cs typeface="Roboto" panose="02000000000000000000" pitchFamily="2" charset="0"/>
              </a:rPr>
              <a:t>Task 2</a:t>
            </a:r>
          </a:p>
        </p:txBody>
      </p:sp>
      <p:sp>
        <p:nvSpPr>
          <p:cNvPr id="7" name="TextBox 6">
            <a:extLst>
              <a:ext uri="{FF2B5EF4-FFF2-40B4-BE49-F238E27FC236}">
                <a16:creationId xmlns:a16="http://schemas.microsoft.com/office/drawing/2014/main" id="{7C949C27-3E05-4AA4-A1A8-5696F6F3C356}"/>
              </a:ext>
            </a:extLst>
          </p:cNvPr>
          <p:cNvSpPr txBox="1"/>
          <p:nvPr/>
        </p:nvSpPr>
        <p:spPr>
          <a:xfrm>
            <a:off x="4095585" y="1967887"/>
            <a:ext cx="7580989" cy="1718742"/>
          </a:xfrm>
          <a:prstGeom prst="rect">
            <a:avLst/>
          </a:prstGeom>
          <a:noFill/>
        </p:spPr>
        <p:txBody>
          <a:bodyPr wrap="square" lIns="0" tIns="0" rIns="0" bIns="0" rtlCol="0" anchor="t">
            <a:noAutofit/>
          </a:bodyPr>
          <a:lstStyle/>
          <a:p>
            <a:r>
              <a:rPr lang="en-AU" sz="1200" dirty="0">
                <a:latin typeface="Roboto Light" panose="02000000000000000000" pitchFamily="2" charset="0"/>
                <a:ea typeface="Roboto Light" panose="02000000000000000000" pitchFamily="2" charset="0"/>
              </a:rPr>
              <a:t> </a:t>
            </a:r>
            <a:r>
              <a:rPr lang="en-US" sz="1600" b="1" dirty="0"/>
              <a:t>Highest-Spending Customer Segments for Chips</a:t>
            </a:r>
          </a:p>
          <a:p>
            <a:r>
              <a:rPr lang="en-US" sz="1600" dirty="0"/>
              <a:t>- Top 15 customer segments were identified based on total spend, transaction frequency, and average price per pack.</a:t>
            </a:r>
          </a:p>
          <a:p>
            <a:r>
              <a:rPr lang="en-US" sz="1600" dirty="0"/>
              <a:t>- “</a:t>
            </a:r>
            <a:r>
              <a:rPr lang="en-US" sz="1600" b="1" i="1" dirty="0"/>
              <a:t>YOUNG SINGLES/COUPLES </a:t>
            </a:r>
            <a:r>
              <a:rPr lang="en-US" sz="1600" dirty="0"/>
              <a:t>– Premium" is the top segment — high spenders who shop frequently.</a:t>
            </a:r>
            <a:br>
              <a:rPr lang="en-US" sz="1600" dirty="0"/>
            </a:br>
            <a:endParaRPr lang="en-US" sz="1600" dirty="0"/>
          </a:p>
          <a:p>
            <a:pPr algn="l"/>
            <a:endParaRPr lang="en-AU" sz="1200" dirty="0">
              <a:latin typeface="Roboto Light" panose="02000000000000000000" pitchFamily="2" charset="0"/>
              <a:ea typeface="Roboto Light" panose="02000000000000000000" pitchFamily="2" charset="0"/>
            </a:endParaRPr>
          </a:p>
        </p:txBody>
      </p:sp>
      <p:sp>
        <p:nvSpPr>
          <p:cNvPr id="9" name="TextBox 8">
            <a:extLst>
              <a:ext uri="{FF2B5EF4-FFF2-40B4-BE49-F238E27FC236}">
                <a16:creationId xmlns:a16="http://schemas.microsoft.com/office/drawing/2014/main" id="{FF9D96EA-4B80-4F92-A071-B09915E427CE}"/>
              </a:ext>
            </a:extLst>
          </p:cNvPr>
          <p:cNvSpPr txBox="1"/>
          <p:nvPr/>
        </p:nvSpPr>
        <p:spPr>
          <a:xfrm>
            <a:off x="4095585" y="4158466"/>
            <a:ext cx="7667790" cy="1718742"/>
          </a:xfrm>
          <a:prstGeom prst="rect">
            <a:avLst/>
          </a:prstGeom>
          <a:noFill/>
        </p:spPr>
        <p:txBody>
          <a:bodyPr wrap="square" lIns="0" tIns="0" rIns="0" bIns="0" rtlCol="0" anchor="t">
            <a:noAutofit/>
          </a:bodyPr>
          <a:lstStyle/>
          <a:p>
            <a:r>
              <a:rPr lang="en-US" sz="1600" b="1" dirty="0"/>
              <a:t>Evaluation of Store Trial at Stores 77, 86 &amp; 88</a:t>
            </a:r>
          </a:p>
          <a:p>
            <a:r>
              <a:rPr lang="en-US" sz="1600" dirty="0"/>
              <a:t>- Store 86 delivered outstanding results (+89% sales) — driven by significant growth in both customer count and purchase frequency.</a:t>
            </a:r>
            <a:br>
              <a:rPr lang="en-US" sz="1600" dirty="0"/>
            </a:br>
            <a:r>
              <a:rPr lang="en-US" sz="1600" dirty="0"/>
              <a:t>- Store 77 saw a sales decline (–22%) — indicating the need for campaign adjustment</a:t>
            </a:r>
            <a:endParaRPr lang="en-US" sz="1600" b="1" dirty="0"/>
          </a:p>
          <a:p>
            <a:endParaRPr lang="en-US" sz="1600" b="1" dirty="0"/>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Category</a:t>
            </a:r>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E4A5E-2FBE-6637-787C-11E599C4046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CF7AD4A5-A468-CCDD-EDFB-0C34FCCCDEFE}"/>
              </a:ext>
            </a:extLst>
          </p:cNvPr>
          <p:cNvPicPr>
            <a:picLocks noChangeAspect="1"/>
          </p:cNvPicPr>
          <p:nvPr/>
        </p:nvPicPr>
        <p:blipFill>
          <a:blip r:embed="rId2"/>
          <a:stretch>
            <a:fillRect/>
          </a:stretch>
        </p:blipFill>
        <p:spPr>
          <a:xfrm>
            <a:off x="12316275" y="0"/>
            <a:ext cx="1993565" cy="1639966"/>
          </a:xfrm>
          <a:prstGeom prst="rect">
            <a:avLst/>
          </a:prstGeom>
        </p:spPr>
      </p:pic>
      <p:sp>
        <p:nvSpPr>
          <p:cNvPr id="3" name="Text Placeholder 2">
            <a:extLst>
              <a:ext uri="{FF2B5EF4-FFF2-40B4-BE49-F238E27FC236}">
                <a16:creationId xmlns:a16="http://schemas.microsoft.com/office/drawing/2014/main" id="{D9B5A629-4E45-EE64-7261-4E00B5048661}"/>
              </a:ext>
            </a:extLst>
          </p:cNvPr>
          <p:cNvSpPr>
            <a:spLocks noGrp="1" noChangeArrowheads="1"/>
          </p:cNvSpPr>
          <p:nvPr>
            <p:ph type="body" sz="quarter" idx="10"/>
          </p:nvPr>
        </p:nvSpPr>
        <p:spPr bwMode="auto">
          <a:xfrm>
            <a:off x="1387475" y="1297752"/>
            <a:ext cx="72898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j-lt"/>
              </a:rPr>
              <a:t>Agenda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Category Overview &amp; Key Customer Insights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Store Trial Objective &amp; Methodology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Control Store Selection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Trial Performance Results (Stores 77, 86, 88)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Key Drivers of Sales Uplift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Final Recommendation &amp; Rollout Plan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mj-lt"/>
              </a:rPr>
              <a:t>Next Steps </a:t>
            </a:r>
          </a:p>
        </p:txBody>
      </p:sp>
    </p:spTree>
    <p:extLst>
      <p:ext uri="{BB962C8B-B14F-4D97-AF65-F5344CB8AC3E}">
        <p14:creationId xmlns:p14="http://schemas.microsoft.com/office/powerpoint/2010/main" val="1438885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87450" y="586720"/>
            <a:ext cx="10479600" cy="2394605"/>
          </a:xfrm>
        </p:spPr>
        <p:txBody>
          <a:bodyPr/>
          <a:lstStyle/>
          <a:p>
            <a:pPr algn="ctr"/>
            <a:r>
              <a:rPr lang="en-US" dirty="0"/>
              <a:t>Problem Statement &amp; Trial Objective</a:t>
            </a:r>
          </a:p>
          <a:p>
            <a:r>
              <a:rPr lang="en-US" sz="2000" b="1" dirty="0"/>
              <a:t>Purpose of Analysis</a:t>
            </a:r>
            <a:r>
              <a:rPr lang="en-US" sz="2000" dirty="0"/>
              <a:t> : Julia asked us to evaluate the 3-month trial of new planogram layouts in stores 77, 86 and 88 to determine: → Should the new layout be rolled out to all 272 stores?</a:t>
            </a:r>
          </a:p>
          <a:p>
            <a:r>
              <a:rPr lang="en-US" sz="2000" b="1" dirty="0"/>
              <a:t>Trial periods</a:t>
            </a:r>
            <a:r>
              <a:rPr lang="en-US" sz="2000" dirty="0"/>
              <a:t> : Stores 77 &amp; 86: Feb – Apr 2019 - Store 88: May – Jul 2019</a:t>
            </a:r>
            <a:endParaRPr lang="en-US" sz="2000" dirty="0">
              <a:effectLst/>
            </a:endParaRPr>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8019903" y="3935731"/>
            <a:ext cx="4104347" cy="824400"/>
          </a:xfrm>
        </p:spPr>
        <p:txBody>
          <a:bodyPr/>
          <a:lstStyle/>
          <a:p>
            <a:r>
              <a:rPr lang="en-US" sz="1600" dirty="0"/>
              <a:t>📈</a:t>
            </a:r>
            <a:r>
              <a:rPr lang="en-US" sz="1400" dirty="0"/>
              <a:t> </a:t>
            </a:r>
            <a:r>
              <a:rPr lang="en-US" sz="1400" b="1" dirty="0"/>
              <a:t>Commercial Recommendation: </a:t>
            </a:r>
            <a:r>
              <a:rPr lang="en-US" sz="1400" dirty="0"/>
              <a:t>Premium young customers are the ideal target for high-margin SKUs and loyalty programs</a:t>
            </a:r>
          </a:p>
          <a:p>
            <a:endParaRPr lang="en-US" sz="1400" dirty="0">
              <a:effectLst/>
            </a:endParaRPr>
          </a:p>
        </p:txBody>
      </p:sp>
      <p:pic>
        <p:nvPicPr>
          <p:cNvPr id="2" name="Picture 1">
            <a:extLst>
              <a:ext uri="{FF2B5EF4-FFF2-40B4-BE49-F238E27FC236}">
                <a16:creationId xmlns:a16="http://schemas.microsoft.com/office/drawing/2014/main" id="{2781A415-F032-4F8D-8E46-30A45BF5E7F5}"/>
              </a:ext>
            </a:extLst>
          </p:cNvPr>
          <p:cNvPicPr>
            <a:picLocks noChangeAspect="1"/>
          </p:cNvPicPr>
          <p:nvPr/>
        </p:nvPicPr>
        <p:blipFill>
          <a:blip r:embed="rId2"/>
          <a:stretch>
            <a:fillRect/>
          </a:stretch>
        </p:blipFill>
        <p:spPr>
          <a:xfrm>
            <a:off x="12327032" y="0"/>
            <a:ext cx="1993565" cy="1457070"/>
          </a:xfrm>
          <a:prstGeom prst="rect">
            <a:avLst/>
          </a:prstGeom>
        </p:spPr>
      </p:pic>
      <p:pic>
        <p:nvPicPr>
          <p:cNvPr id="5" name="Picture 4">
            <a:extLst>
              <a:ext uri="{FF2B5EF4-FFF2-40B4-BE49-F238E27FC236}">
                <a16:creationId xmlns:a16="http://schemas.microsoft.com/office/drawing/2014/main" id="{95BB187C-13FA-211F-E799-A76683C2B480}"/>
              </a:ext>
            </a:extLst>
          </p:cNvPr>
          <p:cNvPicPr>
            <a:picLocks noChangeAspect="1"/>
          </p:cNvPicPr>
          <p:nvPr/>
        </p:nvPicPr>
        <p:blipFill>
          <a:blip r:embed="rId3"/>
          <a:stretch>
            <a:fillRect/>
          </a:stretch>
        </p:blipFill>
        <p:spPr>
          <a:xfrm>
            <a:off x="797171" y="1121070"/>
            <a:ext cx="6850954" cy="4362866"/>
          </a:xfrm>
          <a:prstGeom prst="rect">
            <a:avLst/>
          </a:prstGeom>
        </p:spPr>
      </p:pic>
      <p:sp>
        <p:nvSpPr>
          <p:cNvPr id="7" name="Text Placeholder 3">
            <a:extLst>
              <a:ext uri="{FF2B5EF4-FFF2-40B4-BE49-F238E27FC236}">
                <a16:creationId xmlns:a16="http://schemas.microsoft.com/office/drawing/2014/main" id="{F9C2E5F7-9851-3CA2-A3AE-7CA6288AD83E}"/>
              </a:ext>
            </a:extLst>
          </p:cNvPr>
          <p:cNvSpPr txBox="1">
            <a:spLocks/>
          </p:cNvSpPr>
          <p:nvPr/>
        </p:nvSpPr>
        <p:spPr>
          <a:xfrm>
            <a:off x="1349375" y="316335"/>
            <a:ext cx="10479600" cy="824400"/>
          </a:xfrm>
          <a:prstGeom prst="rect">
            <a:avLst/>
          </a:prstGeom>
        </p:spPr>
        <p:txBody>
          <a:bodyPr lIns="0" tIns="0"/>
          <a:lstStyle>
            <a:lvl1pPr marL="0" indent="0" algn="l" defTabSz="914400" rtl="0" eaLnBrk="1" latinLnBrk="0" hangingPunct="1">
              <a:lnSpc>
                <a:spcPct val="100000"/>
              </a:lnSpc>
              <a:spcBef>
                <a:spcPts val="1000"/>
              </a:spcBef>
              <a:buFont typeface="Arial" panose="020B0604020202020204" pitchFamily="34" charset="0"/>
              <a:buNone/>
              <a:defRPr sz="2400" kern="1200">
                <a:solidFill>
                  <a:srgbClr val="000005"/>
                </a:solidFill>
                <a:latin typeface="Roboto" panose="02000000000000000000" pitchFamily="2" charset="0"/>
                <a:ea typeface="Roboto" panose="02000000000000000000" pitchFamily="2" charset="0"/>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2pPr>
            <a:lvl3pPr marL="9144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3pPr>
            <a:lvl4pPr marL="13716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4pPr>
            <a:lvl5pPr marL="18288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b="1" dirty="0"/>
              <a:t>Category Overview – Who Buys Chips?</a:t>
            </a:r>
            <a:endParaRPr lang="en-US" b="1" dirty="0">
              <a:effectLst/>
            </a:endParaRPr>
          </a:p>
        </p:txBody>
      </p:sp>
      <p:sp>
        <p:nvSpPr>
          <p:cNvPr id="8" name="Text Placeholder 3">
            <a:extLst>
              <a:ext uri="{FF2B5EF4-FFF2-40B4-BE49-F238E27FC236}">
                <a16:creationId xmlns:a16="http://schemas.microsoft.com/office/drawing/2014/main" id="{F0770E23-6D20-546B-7AD7-665F82500713}"/>
              </a:ext>
            </a:extLst>
          </p:cNvPr>
          <p:cNvSpPr txBox="1">
            <a:spLocks/>
          </p:cNvSpPr>
          <p:nvPr/>
        </p:nvSpPr>
        <p:spPr>
          <a:xfrm>
            <a:off x="8049553" y="1273470"/>
            <a:ext cx="3931822" cy="824400"/>
          </a:xfrm>
          <a:prstGeom prst="rect">
            <a:avLst/>
          </a:prstGeom>
        </p:spPr>
        <p:txBody>
          <a:bodyPr lIns="0" tIns="0"/>
          <a:lstStyle>
            <a:lvl1pPr marL="0" indent="0" algn="l" defTabSz="914400" rtl="0" eaLnBrk="1" latinLnBrk="0" hangingPunct="1">
              <a:lnSpc>
                <a:spcPct val="100000"/>
              </a:lnSpc>
              <a:spcBef>
                <a:spcPts val="1000"/>
              </a:spcBef>
              <a:buFont typeface="Arial" panose="020B0604020202020204" pitchFamily="34" charset="0"/>
              <a:buNone/>
              <a:defRPr sz="2400" kern="1200">
                <a:solidFill>
                  <a:srgbClr val="000005"/>
                </a:solidFill>
                <a:latin typeface="Roboto" panose="02000000000000000000" pitchFamily="2" charset="0"/>
                <a:ea typeface="Roboto" panose="02000000000000000000" pitchFamily="2" charset="0"/>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2pPr>
            <a:lvl3pPr marL="9144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3pPr>
            <a:lvl4pPr marL="13716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4pPr>
            <a:lvl5pPr marL="18288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t> </a:t>
            </a:r>
            <a:r>
              <a:rPr lang="en-US" sz="1800" dirty="0"/>
              <a:t>🛒</a:t>
            </a:r>
            <a:r>
              <a:rPr lang="en-US" sz="1400" b="1" dirty="0"/>
              <a:t>Top 3 segments by total spend</a:t>
            </a:r>
            <a:endParaRPr lang="en-US" sz="1400" dirty="0"/>
          </a:p>
          <a:p>
            <a:r>
              <a:rPr lang="en-US" sz="1400" dirty="0"/>
              <a:t>1, Older Families – Budget (highest volume)</a:t>
            </a:r>
          </a:p>
          <a:p>
            <a:r>
              <a:rPr lang="en-US" sz="1400" dirty="0"/>
              <a:t>2, Retirees – Mainstream</a:t>
            </a:r>
          </a:p>
          <a:p>
            <a:r>
              <a:rPr lang="en-US" sz="1400" dirty="0"/>
              <a:t>3, Young Singles/Couples – Mainstream</a:t>
            </a:r>
          </a:p>
          <a:p>
            <a:r>
              <a:rPr lang="en-US" sz="1800" dirty="0"/>
              <a:t>💼</a:t>
            </a:r>
            <a:r>
              <a:rPr lang="en-US" sz="1400" b="1" dirty="0"/>
              <a:t>Highest value customers</a:t>
            </a:r>
            <a:r>
              <a:rPr lang="en-US" sz="1400" dirty="0"/>
              <a:t> Young Singles/Couples – Premium: pay 20% more per packet than Budget shoppers</a:t>
            </a:r>
            <a:endParaRPr lang="en-US" sz="1400" dirty="0">
              <a:effectLst/>
            </a:endParaRPr>
          </a:p>
        </p:txBody>
      </p:sp>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Trial store performance</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pPr algn="ctr"/>
            <a:r>
              <a:rPr lang="en-US" b="1" dirty="0"/>
              <a:t>Control Store Selection</a:t>
            </a:r>
            <a:endParaRPr lang="en-US" b="1" dirty="0">
              <a:effectLst/>
            </a:endParaRPr>
          </a:p>
        </p:txBody>
      </p:sp>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sp>
        <p:nvSpPr>
          <p:cNvPr id="3" name="TextBox 2">
            <a:extLst>
              <a:ext uri="{FF2B5EF4-FFF2-40B4-BE49-F238E27FC236}">
                <a16:creationId xmlns:a16="http://schemas.microsoft.com/office/drawing/2014/main" id="{76DF80AA-7BF3-AFE8-EA37-CDE270996FF5}"/>
              </a:ext>
            </a:extLst>
          </p:cNvPr>
          <p:cNvSpPr txBox="1"/>
          <p:nvPr/>
        </p:nvSpPr>
        <p:spPr>
          <a:xfrm>
            <a:off x="2619375" y="2124075"/>
            <a:ext cx="914400" cy="914400"/>
          </a:xfrm>
          <a:prstGeom prst="rect">
            <a:avLst/>
          </a:prstGeom>
          <a:noFill/>
        </p:spPr>
        <p:txBody>
          <a:bodyPr wrap="none" lIns="0" tIns="0" rIns="0" bIns="0" rtlCol="0" anchor="t">
            <a:noAutofit/>
          </a:bodyPr>
          <a:lstStyle/>
          <a:p>
            <a:pPr algn="l"/>
            <a:endParaRPr lang="en-US" sz="1200" dirty="0" err="1">
              <a:latin typeface="Roboto Light" panose="02000000000000000000" pitchFamily="2" charset="0"/>
              <a:ea typeface="Roboto Light" panose="02000000000000000000" pitchFamily="2" charset="0"/>
            </a:endParaRPr>
          </a:p>
        </p:txBody>
      </p:sp>
      <p:sp>
        <p:nvSpPr>
          <p:cNvPr id="5" name="Text Placeholder 3">
            <a:extLst>
              <a:ext uri="{FF2B5EF4-FFF2-40B4-BE49-F238E27FC236}">
                <a16:creationId xmlns:a16="http://schemas.microsoft.com/office/drawing/2014/main" id="{C02F9CB8-3890-CE97-CFD3-83C5917E36B9}"/>
              </a:ext>
            </a:extLst>
          </p:cNvPr>
          <p:cNvSpPr txBox="1">
            <a:spLocks/>
          </p:cNvSpPr>
          <p:nvPr/>
        </p:nvSpPr>
        <p:spPr>
          <a:xfrm>
            <a:off x="1511389" y="1480650"/>
            <a:ext cx="10479600" cy="824400"/>
          </a:xfrm>
          <a:prstGeom prst="rect">
            <a:avLst/>
          </a:prstGeom>
        </p:spPr>
        <p:txBody>
          <a:bodyPr lIns="0" tIns="0"/>
          <a:lstStyle>
            <a:lvl1pPr marL="0" indent="0" algn="l" defTabSz="914400" rtl="0" eaLnBrk="1" latinLnBrk="0" hangingPunct="1">
              <a:lnSpc>
                <a:spcPct val="100000"/>
              </a:lnSpc>
              <a:spcBef>
                <a:spcPts val="1000"/>
              </a:spcBef>
              <a:buFont typeface="Arial" panose="020B0604020202020204" pitchFamily="34" charset="0"/>
              <a:buNone/>
              <a:defRPr sz="2400" kern="1200">
                <a:solidFill>
                  <a:srgbClr val="000005"/>
                </a:solidFill>
                <a:latin typeface="Roboto" panose="02000000000000000000" pitchFamily="2" charset="0"/>
                <a:ea typeface="Roboto" panose="02000000000000000000" pitchFamily="2" charset="0"/>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2pPr>
            <a:lvl3pPr marL="9144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3pPr>
            <a:lvl4pPr marL="13716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4pPr>
            <a:lvl5pPr marL="18288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Methodology</a:t>
            </a:r>
            <a:r>
              <a:rPr lang="en-US" sz="2000" dirty="0"/>
              <a:t> </a:t>
            </a:r>
          </a:p>
          <a:p>
            <a:r>
              <a:rPr lang="en-US" sz="2000" dirty="0"/>
              <a:t>Matched each trial store with a control store using: </a:t>
            </a:r>
          </a:p>
          <a:p>
            <a:pPr marL="342900" indent="-342900">
              <a:buFontTx/>
              <a:buChar char="-"/>
            </a:pPr>
            <a:r>
              <a:rPr lang="en-US" sz="2000" dirty="0"/>
              <a:t>Pre-trial monthly sales (Jul–Dec 2018) </a:t>
            </a:r>
          </a:p>
          <a:p>
            <a:pPr marL="342900" indent="-342900">
              <a:buFontTx/>
              <a:buChar char="-"/>
            </a:pPr>
            <a:r>
              <a:rPr lang="en-US" sz="2000" dirty="0"/>
              <a:t>Number of customers &amp; transactions per month </a:t>
            </a:r>
          </a:p>
          <a:p>
            <a:pPr marL="342900" indent="-342900">
              <a:buFontTx/>
              <a:buChar char="-"/>
            </a:pPr>
            <a:r>
              <a:rPr lang="en-US" sz="2000" dirty="0"/>
              <a:t>Pearson correlation + magnitude distance scoring</a:t>
            </a:r>
          </a:p>
          <a:p>
            <a:r>
              <a:rPr lang="en-US" sz="2000" b="1" dirty="0"/>
              <a:t>Final matched pairs</a:t>
            </a:r>
            <a:r>
              <a:rPr lang="en-US" sz="2000" dirty="0"/>
              <a:t> </a:t>
            </a:r>
          </a:p>
          <a:p>
            <a:r>
              <a:rPr lang="en-US" sz="2000" dirty="0"/>
              <a:t>- Store 77 ↔ Control 233 (98% similarity) </a:t>
            </a:r>
          </a:p>
          <a:p>
            <a:r>
              <a:rPr lang="en-US" sz="2000" dirty="0"/>
              <a:t>- Store 86 ↔ Control 155 (95% similarity) </a:t>
            </a:r>
          </a:p>
          <a:p>
            <a:r>
              <a:rPr lang="en-US" sz="2000" dirty="0"/>
              <a:t>- Store 88 ↔ Control 237 (96% similarity)</a:t>
            </a:r>
            <a:endParaRPr lang="en-US" sz="2000" dirty="0">
              <a:effectLst/>
            </a:endParaRPr>
          </a:p>
        </p:txBody>
      </p:sp>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58875" y="123531"/>
            <a:ext cx="10479600" cy="824400"/>
          </a:xfrm>
        </p:spPr>
        <p:txBody>
          <a:bodyPr/>
          <a:lstStyle/>
          <a:p>
            <a:pPr algn="ctr"/>
            <a:r>
              <a:rPr lang="en-US" b="1" dirty="0"/>
              <a:t>Trial Performance Results</a:t>
            </a:r>
            <a:endParaRPr lang="en-US" b="1" dirty="0">
              <a:effectLst/>
            </a:endParaRPr>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sp>
        <p:nvSpPr>
          <p:cNvPr id="3" name="Text Placeholder 3">
            <a:extLst>
              <a:ext uri="{FF2B5EF4-FFF2-40B4-BE49-F238E27FC236}">
                <a16:creationId xmlns:a16="http://schemas.microsoft.com/office/drawing/2014/main" id="{55BF4BC6-0C7B-E197-7F12-142300A650A5}"/>
              </a:ext>
            </a:extLst>
          </p:cNvPr>
          <p:cNvSpPr txBox="1">
            <a:spLocks/>
          </p:cNvSpPr>
          <p:nvPr/>
        </p:nvSpPr>
        <p:spPr>
          <a:xfrm>
            <a:off x="7722585" y="1140187"/>
            <a:ext cx="7831780" cy="824400"/>
          </a:xfrm>
          <a:prstGeom prst="rect">
            <a:avLst/>
          </a:prstGeom>
        </p:spPr>
        <p:txBody>
          <a:bodyPr lIns="0" tIns="0"/>
          <a:lstStyle>
            <a:lvl1pPr marL="0" indent="0" algn="l" defTabSz="914400" rtl="0" eaLnBrk="1" latinLnBrk="0" hangingPunct="1">
              <a:lnSpc>
                <a:spcPct val="100000"/>
              </a:lnSpc>
              <a:spcBef>
                <a:spcPts val="1000"/>
              </a:spcBef>
              <a:buFont typeface="Arial" panose="020B0604020202020204" pitchFamily="34" charset="0"/>
              <a:buNone/>
              <a:defRPr sz="2400" kern="1200">
                <a:solidFill>
                  <a:srgbClr val="000005"/>
                </a:solidFill>
                <a:latin typeface="Roboto" panose="02000000000000000000" pitchFamily="2" charset="0"/>
                <a:ea typeface="Roboto" panose="02000000000000000000" pitchFamily="2" charset="0"/>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2pPr>
            <a:lvl3pPr marL="9144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3pPr>
            <a:lvl4pPr marL="13716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4pPr>
            <a:lvl5pPr marL="18288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t>Sales uplift during trial period</a:t>
            </a:r>
            <a:r>
              <a:rPr lang="en-US" sz="1400" dirty="0"/>
              <a:t> :</a:t>
            </a:r>
          </a:p>
          <a:p>
            <a:pPr marL="285750" indent="-285750">
              <a:buFontTx/>
              <a:buChar char="-"/>
            </a:pPr>
            <a:r>
              <a:rPr lang="en-US" sz="1400" dirty="0"/>
              <a:t>Store 77: </a:t>
            </a:r>
            <a:r>
              <a:rPr lang="en-US" sz="1400" b="1" dirty="0"/>
              <a:t>+17.2%</a:t>
            </a:r>
            <a:r>
              <a:rPr lang="en-US" sz="1400" dirty="0"/>
              <a:t> (statistically significant, p &lt; 0.01) </a:t>
            </a:r>
          </a:p>
          <a:p>
            <a:pPr marL="285750" indent="-285750">
              <a:buFontTx/>
              <a:buChar char="-"/>
            </a:pPr>
            <a:r>
              <a:rPr lang="en-US" sz="1400" dirty="0"/>
              <a:t> Store 86: </a:t>
            </a:r>
            <a:r>
              <a:rPr lang="en-US" sz="1400" b="1" dirty="0"/>
              <a:t>+8.7%</a:t>
            </a:r>
            <a:r>
              <a:rPr lang="en-US" sz="1400" dirty="0"/>
              <a:t> (statistically significant, p &lt; 0.05) </a:t>
            </a:r>
          </a:p>
          <a:p>
            <a:pPr marL="285750" indent="-285750">
              <a:buFontTx/>
              <a:buChar char="-"/>
            </a:pPr>
            <a:r>
              <a:rPr lang="en-US" sz="1400" dirty="0"/>
              <a:t>Store 88: </a:t>
            </a:r>
            <a:r>
              <a:rPr lang="en-US" sz="1400" b="1" dirty="0"/>
              <a:t>–1.4%</a:t>
            </a:r>
            <a:r>
              <a:rPr lang="en-US" sz="1400" dirty="0"/>
              <a:t> (no significant difference)</a:t>
            </a:r>
          </a:p>
        </p:txBody>
      </p:sp>
      <p:pic>
        <p:nvPicPr>
          <p:cNvPr id="5" name="Picture 4">
            <a:extLst>
              <a:ext uri="{FF2B5EF4-FFF2-40B4-BE49-F238E27FC236}">
                <a16:creationId xmlns:a16="http://schemas.microsoft.com/office/drawing/2014/main" id="{83B198E4-800C-9B6E-77B3-BD2B6EC5994F}"/>
              </a:ext>
            </a:extLst>
          </p:cNvPr>
          <p:cNvPicPr>
            <a:picLocks noChangeAspect="1"/>
          </p:cNvPicPr>
          <p:nvPr/>
        </p:nvPicPr>
        <p:blipFill>
          <a:blip r:embed="rId2"/>
          <a:stretch>
            <a:fillRect/>
          </a:stretch>
        </p:blipFill>
        <p:spPr>
          <a:xfrm>
            <a:off x="12210268" y="1140187"/>
            <a:ext cx="1993565" cy="2005758"/>
          </a:xfrm>
          <a:prstGeom prst="rect">
            <a:avLst/>
          </a:prstGeom>
        </p:spPr>
      </p:pic>
      <p:pic>
        <p:nvPicPr>
          <p:cNvPr id="7" name="Picture 6">
            <a:extLst>
              <a:ext uri="{FF2B5EF4-FFF2-40B4-BE49-F238E27FC236}">
                <a16:creationId xmlns:a16="http://schemas.microsoft.com/office/drawing/2014/main" id="{3D11F723-E832-34BF-06E2-DE12050558A0}"/>
              </a:ext>
            </a:extLst>
          </p:cNvPr>
          <p:cNvPicPr>
            <a:picLocks noChangeAspect="1"/>
          </p:cNvPicPr>
          <p:nvPr/>
        </p:nvPicPr>
        <p:blipFill>
          <a:blip r:embed="rId3"/>
          <a:stretch>
            <a:fillRect/>
          </a:stretch>
        </p:blipFill>
        <p:spPr>
          <a:xfrm>
            <a:off x="1509070" y="535731"/>
            <a:ext cx="6082355" cy="2699964"/>
          </a:xfrm>
          <a:prstGeom prst="rect">
            <a:avLst/>
          </a:prstGeom>
        </p:spPr>
      </p:pic>
      <p:pic>
        <p:nvPicPr>
          <p:cNvPr id="9" name="Picture 8">
            <a:extLst>
              <a:ext uri="{FF2B5EF4-FFF2-40B4-BE49-F238E27FC236}">
                <a16:creationId xmlns:a16="http://schemas.microsoft.com/office/drawing/2014/main" id="{4764E7CF-A67D-C58A-CCED-5303BC1B18DC}"/>
              </a:ext>
            </a:extLst>
          </p:cNvPr>
          <p:cNvPicPr>
            <a:picLocks noChangeAspect="1"/>
          </p:cNvPicPr>
          <p:nvPr/>
        </p:nvPicPr>
        <p:blipFill>
          <a:blip r:embed="rId4"/>
          <a:stretch>
            <a:fillRect/>
          </a:stretch>
        </p:blipFill>
        <p:spPr>
          <a:xfrm>
            <a:off x="4124325" y="3352620"/>
            <a:ext cx="7715248" cy="2756322"/>
          </a:xfrm>
          <a:prstGeom prst="rect">
            <a:avLst/>
          </a:prstGeom>
        </p:spPr>
      </p:pic>
      <p:sp>
        <p:nvSpPr>
          <p:cNvPr id="10" name="Text Placeholder 3">
            <a:extLst>
              <a:ext uri="{FF2B5EF4-FFF2-40B4-BE49-F238E27FC236}">
                <a16:creationId xmlns:a16="http://schemas.microsoft.com/office/drawing/2014/main" id="{3B49B4DC-072F-1369-2A11-B8496FCF22A3}"/>
              </a:ext>
            </a:extLst>
          </p:cNvPr>
          <p:cNvSpPr txBox="1">
            <a:spLocks/>
          </p:cNvSpPr>
          <p:nvPr/>
        </p:nvSpPr>
        <p:spPr>
          <a:xfrm>
            <a:off x="1274160" y="4278564"/>
            <a:ext cx="2850165" cy="1112586"/>
          </a:xfrm>
          <a:prstGeom prst="rect">
            <a:avLst/>
          </a:prstGeom>
        </p:spPr>
        <p:txBody>
          <a:bodyPr lIns="0" tIns="0"/>
          <a:lstStyle>
            <a:lvl1pPr marL="0" indent="0" algn="l" defTabSz="914400" rtl="0" eaLnBrk="1" latinLnBrk="0" hangingPunct="1">
              <a:lnSpc>
                <a:spcPct val="100000"/>
              </a:lnSpc>
              <a:spcBef>
                <a:spcPts val="1000"/>
              </a:spcBef>
              <a:buFont typeface="Arial" panose="020B0604020202020204" pitchFamily="34" charset="0"/>
              <a:buNone/>
              <a:defRPr sz="2400" kern="1200">
                <a:solidFill>
                  <a:srgbClr val="000005"/>
                </a:solidFill>
                <a:latin typeface="Roboto" panose="02000000000000000000" pitchFamily="2" charset="0"/>
                <a:ea typeface="Roboto" panose="02000000000000000000" pitchFamily="2" charset="0"/>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2pPr>
            <a:lvl3pPr marL="9144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3pPr>
            <a:lvl4pPr marL="13716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4pPr>
            <a:lvl5pPr marL="18288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t>Conclusion</a:t>
            </a:r>
            <a:r>
              <a:rPr lang="en-US" sz="1400" dirty="0"/>
              <a:t>: 2 out of 3 trial stores delivered strong, significant uplift</a:t>
            </a:r>
            <a:endParaRPr lang="en-US" sz="1400" dirty="0">
              <a:effectLst/>
            </a:endParaRPr>
          </a:p>
        </p:txBody>
      </p:sp>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949325" y="407783"/>
            <a:ext cx="10479600" cy="824400"/>
          </a:xfrm>
        </p:spPr>
        <p:txBody>
          <a:bodyPr/>
          <a:lstStyle/>
          <a:p>
            <a:pPr algn="ctr"/>
            <a:r>
              <a:rPr lang="en-US" b="1" dirty="0"/>
              <a:t>Recommendation to Julia</a:t>
            </a:r>
            <a:endParaRPr lang="en-US" b="1" dirty="0">
              <a:effectLst/>
            </a:endParaRPr>
          </a:p>
        </p:txBody>
      </p:sp>
      <p:grpSp>
        <p:nvGrpSpPr>
          <p:cNvPr id="3" name="Group 2">
            <a:extLst>
              <a:ext uri="{FF2B5EF4-FFF2-40B4-BE49-F238E27FC236}">
                <a16:creationId xmlns:a16="http://schemas.microsoft.com/office/drawing/2014/main" id="{C64A4D7E-5CE1-40B1-A3A1-7099B09FC741}"/>
              </a:ext>
            </a:extLst>
          </p:cNvPr>
          <p:cNvGrpSpPr/>
          <p:nvPr/>
        </p:nvGrpSpPr>
        <p:grpSpPr>
          <a:xfrm>
            <a:off x="12294760" y="-281940"/>
            <a:ext cx="1536700" cy="601980"/>
            <a:chOff x="12294760" y="-281940"/>
            <a:chExt cx="1536700" cy="601980"/>
          </a:xfrm>
        </p:grpSpPr>
        <p:grpSp>
          <p:nvGrpSpPr>
            <p:cNvPr id="7" name="Group 6">
              <a:extLst>
                <a:ext uri="{FF2B5EF4-FFF2-40B4-BE49-F238E27FC236}">
                  <a16:creationId xmlns:a16="http://schemas.microsoft.com/office/drawing/2014/main" id="{5ABE3127-33CB-42CF-A27A-EC6C1ECB12E5}"/>
                </a:ext>
              </a:extLst>
            </p:cNvPr>
            <p:cNvGrpSpPr>
              <a:grpSpLocks noChangeAspect="1"/>
            </p:cNvGrpSpPr>
            <p:nvPr/>
          </p:nvGrpSpPr>
          <p:grpSpPr bwMode="auto">
            <a:xfrm>
              <a:off x="12294760" y="0"/>
              <a:ext cx="356123" cy="320040"/>
              <a:chOff x="2932" y="1344"/>
              <a:chExt cx="1816" cy="1632"/>
            </a:xfrm>
            <a:solidFill>
              <a:srgbClr val="C7C5C4"/>
            </a:solidFill>
          </p:grpSpPr>
          <p:sp>
            <p:nvSpPr>
              <p:cNvPr id="8" name="Freeform 5">
                <a:extLst>
                  <a:ext uri="{FF2B5EF4-FFF2-40B4-BE49-F238E27FC236}">
                    <a16:creationId xmlns:a16="http://schemas.microsoft.com/office/drawing/2014/main" id="{76C834A1-3C8D-4F0B-9DC2-B47995918C84}"/>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sp>
            <p:nvSpPr>
              <p:cNvPr id="9" name="Freeform 6">
                <a:extLst>
                  <a:ext uri="{FF2B5EF4-FFF2-40B4-BE49-F238E27FC236}">
                    <a16:creationId xmlns:a16="http://schemas.microsoft.com/office/drawing/2014/main" id="{D6468F9D-0AD4-4007-AC37-4F15C9D8A8EC}"/>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grpSp>
        <p:sp>
          <p:nvSpPr>
            <p:cNvPr id="10" name="TextBox 9">
              <a:extLst>
                <a:ext uri="{FF2B5EF4-FFF2-40B4-BE49-F238E27FC236}">
                  <a16:creationId xmlns:a16="http://schemas.microsoft.com/office/drawing/2014/main" id="{FA4B0528-07DD-4828-80A1-38D6807189A0}"/>
                </a:ext>
              </a:extLst>
            </p:cNvPr>
            <p:cNvSpPr txBox="1"/>
            <p:nvPr/>
          </p:nvSpPr>
          <p:spPr>
            <a:xfrm>
              <a:off x="12294760" y="-281940"/>
              <a:ext cx="1536700" cy="318079"/>
            </a:xfrm>
            <a:prstGeom prst="rect">
              <a:avLst/>
            </a:prstGeom>
            <a:noFill/>
          </p:spPr>
          <p:txBody>
            <a:bodyPr wrap="square" lIns="0" tIns="0" rIns="0" bIns="0" rtlCol="0" anchor="t">
              <a:noAutofit/>
            </a:bodyPr>
            <a:lstStyle/>
            <a:p>
              <a:pPr algn="l"/>
              <a:r>
                <a:rPr lang="en-AU" sz="1200" dirty="0">
                  <a:solidFill>
                    <a:srgbClr val="EF6347"/>
                  </a:solidFill>
                  <a:latin typeface="Roboto Light" panose="02000000000000000000" pitchFamily="2" charset="0"/>
                  <a:ea typeface="Roboto Light" panose="02000000000000000000" pitchFamily="2" charset="0"/>
                </a:rPr>
                <a:t>Editable (delete this)</a:t>
              </a:r>
            </a:p>
          </p:txBody>
        </p:sp>
      </p:grpSp>
      <p:pic>
        <p:nvPicPr>
          <p:cNvPr id="2" name="Picture 1">
            <a:extLst>
              <a:ext uri="{FF2B5EF4-FFF2-40B4-BE49-F238E27FC236}">
                <a16:creationId xmlns:a16="http://schemas.microsoft.com/office/drawing/2014/main" id="{6F60F370-EAE9-40DE-8EF3-35656B5314C6}"/>
              </a:ext>
            </a:extLst>
          </p:cNvPr>
          <p:cNvPicPr>
            <a:picLocks noChangeAspect="1"/>
          </p:cNvPicPr>
          <p:nvPr/>
        </p:nvPicPr>
        <p:blipFill>
          <a:blip r:embed="rId2"/>
          <a:stretch>
            <a:fillRect/>
          </a:stretch>
        </p:blipFill>
        <p:spPr>
          <a:xfrm>
            <a:off x="12294760" y="0"/>
            <a:ext cx="1993565" cy="1639966"/>
          </a:xfrm>
          <a:prstGeom prst="rect">
            <a:avLst/>
          </a:prstGeom>
        </p:spPr>
      </p:pic>
      <p:sp>
        <p:nvSpPr>
          <p:cNvPr id="5" name="Text Placeholder 3">
            <a:extLst>
              <a:ext uri="{FF2B5EF4-FFF2-40B4-BE49-F238E27FC236}">
                <a16:creationId xmlns:a16="http://schemas.microsoft.com/office/drawing/2014/main" id="{A89489BC-67D2-4225-0BC0-5ABA6662DD48}"/>
              </a:ext>
            </a:extLst>
          </p:cNvPr>
          <p:cNvSpPr txBox="1">
            <a:spLocks/>
          </p:cNvSpPr>
          <p:nvPr/>
        </p:nvSpPr>
        <p:spPr>
          <a:xfrm>
            <a:off x="1382243" y="1373266"/>
            <a:ext cx="10479600" cy="824400"/>
          </a:xfrm>
          <a:prstGeom prst="rect">
            <a:avLst/>
          </a:prstGeom>
        </p:spPr>
        <p:txBody>
          <a:bodyPr lIns="0" tIns="0"/>
          <a:lstStyle>
            <a:lvl1pPr marL="0" indent="0" algn="l" defTabSz="914400" rtl="0" eaLnBrk="1" latinLnBrk="0" hangingPunct="1">
              <a:lnSpc>
                <a:spcPct val="100000"/>
              </a:lnSpc>
              <a:spcBef>
                <a:spcPts val="1000"/>
              </a:spcBef>
              <a:buFont typeface="Arial" panose="020B0604020202020204" pitchFamily="34" charset="0"/>
              <a:buNone/>
              <a:defRPr sz="2400" kern="1200">
                <a:solidFill>
                  <a:srgbClr val="000005"/>
                </a:solidFill>
                <a:latin typeface="Roboto" panose="02000000000000000000" pitchFamily="2" charset="0"/>
                <a:ea typeface="Roboto" panose="02000000000000000000" pitchFamily="2" charset="0"/>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2pPr>
            <a:lvl3pPr marL="9144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3pPr>
            <a:lvl4pPr marL="13716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4pPr>
            <a:lvl5pPr marL="18288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Roll out the new layout nationwide</a:t>
            </a:r>
            <a:endParaRPr lang="en-US" dirty="0"/>
          </a:p>
          <a:p>
            <a:r>
              <a:rPr lang="en-US" b="1" dirty="0"/>
              <a:t>With two conditions</a:t>
            </a:r>
            <a:endParaRPr lang="en-US" dirty="0"/>
          </a:p>
          <a:p>
            <a:r>
              <a:rPr lang="en-US" dirty="0" err="1"/>
              <a:t>Prioritise</a:t>
            </a:r>
            <a:r>
              <a:rPr lang="en-US" dirty="0"/>
              <a:t> stores with profiles similar to 77 &amp; 86 (high-traffic, mainstream/budget mix)</a:t>
            </a:r>
          </a:p>
          <a:p>
            <a:r>
              <a:rPr lang="en-US" dirty="0"/>
              <a:t>Set KPIs for first-wave rollout: • Minimum +8% sales uplift within 3 months • Monitor both customer traffic and basket size</a:t>
            </a:r>
          </a:p>
          <a:p>
            <a:r>
              <a:rPr lang="en-US" b="1" dirty="0"/>
              <a:t>Expected category impact</a:t>
            </a:r>
            <a:r>
              <a:rPr lang="en-US" dirty="0"/>
              <a:t>: +9% to +12% incremental chips revenue</a:t>
            </a:r>
            <a:endParaRPr lang="en-US" dirty="0">
              <a:effectLst/>
            </a:endParaRPr>
          </a:p>
        </p:txBody>
      </p:sp>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6380</TotalTime>
  <Words>754</Words>
  <Application>Microsoft Office PowerPoint</Application>
  <PresentationFormat>Widescreen</PresentationFormat>
  <Paragraphs>74</Paragraphs>
  <Slides>12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Roboto Medium</vt:lpstr>
      <vt:lpstr>Calibri</vt:lpstr>
      <vt:lpstr>Arial</vt:lpstr>
      <vt:lpstr>Roboto Light</vt:lpstr>
      <vt:lpstr>Roboto</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Huyền Dương</cp:lastModifiedBy>
  <cp:revision>466</cp:revision>
  <dcterms:created xsi:type="dcterms:W3CDTF">2018-02-07T23:23:24Z</dcterms:created>
  <dcterms:modified xsi:type="dcterms:W3CDTF">2025-12-02T04:58:42Z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